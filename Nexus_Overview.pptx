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3657600"/>
            <a:ext cx="2286000" cy="22860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FFFFFF"/>
                </a:solidFill>
                <a:latin typeface="Calibri"/>
              </a:defRPr>
            </a:pPr>
            <a:r>
              <a:t>NEXUS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560320"/>
            <a:ext cx="1828800" cy="635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6C63FF"/>
                </a:solidFill>
                <a:latin typeface="Calibri"/>
              </a:defRPr>
            </a:pPr>
            <a:r>
              <a:t>Open-Source Omnichannel AI Agent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8"/>
                </a:solidFill>
                <a:latin typeface="Calibri"/>
              </a:defRPr>
            </a:pPr>
            <a:r>
              <a:t>Chat  ·  Copilot  ·  Voice  —  One Orchestrator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8A"/>
                </a:solidFill>
                <a:latin typeface="Calibri"/>
              </a:defRPr>
            </a:pPr>
            <a:r>
              <a:t>github.com/ShubhamRSY/voice-agents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6B8A"/>
                </a:solidFill>
                <a:latin typeface="Calibri"/>
              </a:defRPr>
            </a:pPr>
            <a:r>
              <a:t>01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5029200"/>
            <a:ext cx="2286000" cy="22860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AA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"/>
            <a:ext cx="109728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What Is Nexus?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8"/>
                </a:solidFill>
                <a:latin typeface="Calibri"/>
              </a:defRPr>
            </a:pPr>
            <a:r>
              <a:t>Customer support teams lose context switching between channels — chat, phone, email, and internal tools each live in separate silos. Nexus solves this with a single AI-powered orchestrator that handles every conversation from one runtime, with one knowledge base, and one feedback loop that improves responses over time.</a:t>
            </a:r>
            <a:br/>
            <a:br/>
            <a:r>
              <a:t>No API key is required to start — the platform ships with a built-in mock LLM so the entire console, voice simulator, and all 158+ unit tests work immediately out of the box.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6B8A"/>
                </a:solidFill>
                <a:latin typeface="Calibri"/>
              </a:defRPr>
            </a:pPr>
            <a: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AA"/>
                </a:solidFill>
                <a:latin typeface="Calibri"/>
              </a:defRPr>
            </a:pPr>
            <a:r>
              <a:t>CHANNELS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109728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Three Channels, One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3840480"/>
          </a:xfrm>
          <a:prstGeom prst="roundRect">
            <a:avLst>
              <a:gd name="adj" fmla="val 5000"/>
            </a:avLst>
          </a:prstGeom>
          <a:solidFill>
            <a:srgbClr val="11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3383280" cy="635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  <a:latin typeface="Calibri"/>
              </a:defRPr>
            </a:pPr>
            <a:r>
              <a:t>💬  Chat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0896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8"/>
                </a:solidFill>
                <a:latin typeface="Calibri"/>
              </a:defRPr>
            </a:pPr>
            <a:r>
              <a:t>Live AI conversation with SSE streaming,</a:t>
            </a:r>
            <a:br/>
            <a:r>
              <a:t>RAG citations, session history, and</a:t>
            </a:r>
            <a:br/>
            <a:r>
              <a:t>per-mode message filtering.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2011680"/>
            <a:ext cx="3383280" cy="3840480"/>
          </a:xfrm>
          <a:prstGeom prst="roundRect">
            <a:avLst>
              <a:gd name="adj" fmla="val 5000"/>
            </a:avLst>
          </a:prstGeom>
          <a:solidFill>
            <a:srgbClr val="11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2011680"/>
            <a:ext cx="3383280" cy="635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23774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AA"/>
                </a:solidFill>
                <a:latin typeface="Calibri"/>
              </a:defRPr>
            </a:pPr>
            <a:r>
              <a:t>🤝  Copilot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310896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8"/>
                </a:solidFill>
                <a:latin typeface="Calibri"/>
              </a:defRPr>
            </a:pPr>
            <a:r>
              <a:t>Agent-assist mode — paste a customer</a:t>
            </a:r>
            <a:br/>
            <a:r>
              <a:t>transcript, get an AI-generated reply</a:t>
            </a:r>
            <a:br/>
            <a:r>
              <a:t>instantly.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011680"/>
            <a:ext cx="3383280" cy="3840480"/>
          </a:xfrm>
          <a:prstGeom prst="roundRect">
            <a:avLst>
              <a:gd name="adj" fmla="val 5000"/>
            </a:avLst>
          </a:prstGeom>
          <a:solidFill>
            <a:srgbClr val="11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2011680"/>
            <a:ext cx="3383280" cy="635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3774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6B"/>
                </a:solidFill>
                <a:latin typeface="Calibri"/>
              </a:defRPr>
            </a:pPr>
            <a:r>
              <a:t>📞  Voice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10896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8"/>
                </a:solidFill>
                <a:latin typeface="Calibri"/>
              </a:defRPr>
            </a:pPr>
            <a:r>
              <a:t>PSTN telephony via Twilio, Amazon</a:t>
            </a:r>
            <a:br/>
            <a:r>
              <a:t>Connect, or any SIP trunk. Live</a:t>
            </a:r>
            <a:br/>
            <a:r>
              <a:t>STT → AI → TTS pipeline.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6B8A"/>
                </a:solidFill>
                <a:latin typeface="Calibri"/>
              </a:defRPr>
            </a:pPr>
            <a: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AA"/>
                </a:solidFill>
                <a:latin typeface="Calibri"/>
              </a:defRPr>
            </a:pPr>
            <a:r>
              <a:t>SYSTEM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109728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5" name="Oval 4"/>
          <p:cNvSpPr/>
          <p:nvPr/>
        </p:nvSpPr>
        <p:spPr>
          <a:xfrm>
            <a:off x="10058400" y="4572000"/>
            <a:ext cx="1828800" cy="18288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457200" y="-457200"/>
            <a:ext cx="1371600" cy="13716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B0B0C8"/>
                </a:solidFill>
                <a:latin typeface="Calibri"/>
              </a:defRPr>
            </a:pPr>
            <a:r>
              <a:t>User / Console  ──→  REST API  ──→  Orchestrator</a:t>
            </a:r>
          </a:p>
          <a:p>
            <a:pPr>
              <a:spcAft>
                <a:spcPts val="400"/>
              </a:spcAft>
              <a:defRPr sz="1500">
                <a:solidFill>
                  <a:srgbClr val="B0B0C8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B0B0C8"/>
                </a:solidFill>
                <a:latin typeface="Calibri"/>
              </a:defRPr>
            </a:pPr>
            <a:r>
              <a:t>  │  Session Manager — create, load, persist</a:t>
            </a:r>
          </a:p>
          <a:p>
            <a:pPr>
              <a:spcAft>
                <a:spcPts val="400"/>
              </a:spcAft>
              <a:defRPr sz="1500">
                <a:solidFill>
                  <a:srgbClr val="B0B0C8"/>
                </a:solidFill>
                <a:latin typeface="Calibri"/>
              </a:defRPr>
            </a:pPr>
            <a:r>
              <a:t>  │  Prompt Builder — system prompt + history + context</a:t>
            </a:r>
          </a:p>
          <a:p>
            <a:pPr>
              <a:spcAft>
                <a:spcPts val="400"/>
              </a:spcAft>
              <a:defRPr sz="1500">
                <a:solidFill>
                  <a:srgbClr val="B0B0C8"/>
                </a:solidFill>
                <a:latin typeface="Calibri"/>
              </a:defRPr>
            </a:pPr>
            <a:r>
              <a:t>  │  Agent Router — model &amp; agent selection</a:t>
            </a:r>
          </a:p>
          <a:p>
            <a:pPr>
              <a:spcAft>
                <a:spcPts val="400"/>
              </a:spcAft>
              <a:defRPr sz="1500">
                <a:solidFill>
                  <a:srgbClr val="B0B0C8"/>
                </a:solidFill>
                <a:latin typeface="Calibri"/>
              </a:defRPr>
            </a:pPr>
            <a:r>
              <a:t>  │</a:t>
            </a:r>
          </a:p>
          <a:p>
            <a:pPr>
              <a:spcAft>
                <a:spcPts val="400"/>
              </a:spcAft>
              <a:defRPr sz="1500">
                <a:solidFill>
                  <a:srgbClr val="B0B0C8"/>
                </a:solidFill>
                <a:latin typeface="Calibri"/>
              </a:defRPr>
            </a:pPr>
            <a:r>
              <a:t>  ├──→  RAG Engine  —  vector retrieval + citations</a:t>
            </a:r>
          </a:p>
          <a:p>
            <a:pPr>
              <a:spcAft>
                <a:spcPts val="400"/>
              </a:spcAft>
              <a:defRPr sz="1500">
                <a:solidFill>
                  <a:srgbClr val="B0B0C8"/>
                </a:solidFill>
                <a:latin typeface="Calibri"/>
              </a:defRPr>
            </a:pPr>
            <a:r>
              <a:t>  ├──→  LLM Layer  —  OpenAI · Anthropic · Gemini · Mock</a:t>
            </a:r>
          </a:p>
          <a:p>
            <a:pPr>
              <a:spcAft>
                <a:spcPts val="400"/>
              </a:spcAft>
              <a:defRPr sz="1500">
                <a:solidFill>
                  <a:srgbClr val="B0B0C8"/>
                </a:solidFill>
                <a:latin typeface="Calibri"/>
              </a:defRPr>
            </a:pPr>
            <a:r>
              <a:t>  └──→  SSE Stream  ──→  Console UI</a:t>
            </a:r>
          </a:p>
          <a:p>
            <a:pPr>
              <a:spcAft>
                <a:spcPts val="400"/>
              </a:spcAft>
              <a:defRPr sz="1500">
                <a:solidFill>
                  <a:srgbClr val="B0B0C8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B0B0C8"/>
                </a:solidFill>
                <a:latin typeface="Calibri"/>
              </a:defRPr>
            </a:pPr>
            <a:r>
              <a:t>Services:  Feedback Engine  ·  Vault (AES-256-GCM)  ·  iPaaS Webhooks</a:t>
            </a:r>
          </a:p>
          <a:p>
            <a:pPr>
              <a:spcAft>
                <a:spcPts val="400"/>
              </a:spcAft>
              <a:defRPr sz="1500">
                <a:solidFill>
                  <a:srgbClr val="B0B0C8"/>
                </a:solidFill>
                <a:latin typeface="Calibri"/>
              </a:defRPr>
            </a:pPr>
            <a:r>
              <a:t>Infra:    Twilio  ·  Redis  ·  PostgreSQL  ·  Docker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6B8A"/>
                </a:solidFill>
                <a:latin typeface="Calibri"/>
              </a:defRPr>
            </a:pPr>
            <a: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AA"/>
                </a:solidFill>
                <a:latin typeface="Calibri"/>
              </a:defRPr>
            </a:pPr>
            <a:r>
              <a:t>LLM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109728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Multi-LLM Support</a:t>
            </a:r>
          </a:p>
        </p:txBody>
      </p:sp>
      <p:sp>
        <p:nvSpPr>
          <p:cNvPr id="5" name="Oval 4"/>
          <p:cNvSpPr/>
          <p:nvPr/>
        </p:nvSpPr>
        <p:spPr>
          <a:xfrm>
            <a:off x="9601200" y="1371600"/>
            <a:ext cx="1645920" cy="16459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B0B0C8"/>
                </a:solidFill>
                <a:latin typeface="Calibri"/>
              </a:defRPr>
            </a:pPr>
            <a:r>
              <a:t>OpenAI GPT-4o / GPT-4o-mini — default provider</a:t>
            </a:r>
          </a:p>
          <a:p>
            <a:pPr>
              <a:spcAft>
                <a:spcPts val="1000"/>
              </a:spcAft>
              <a:defRPr sz="1700">
                <a:solidFill>
                  <a:srgbClr val="B0B0C8"/>
                </a:solidFill>
                <a:latin typeface="Calibri"/>
              </a:defRPr>
            </a:pPr>
            <a:r>
              <a:t>Anthropic Claude 3.5 — Sonnet &amp; Haiku</a:t>
            </a:r>
          </a:p>
          <a:p>
            <a:pPr>
              <a:spcAft>
                <a:spcPts val="1000"/>
              </a:spcAft>
              <a:defRPr sz="1700">
                <a:solidFill>
                  <a:srgbClr val="B0B0C8"/>
                </a:solidFill>
                <a:latin typeface="Calibri"/>
              </a:defRPr>
            </a:pPr>
            <a:r>
              <a:t>Google Gemini 2.0 Flash — via gemini_provider</a:t>
            </a:r>
          </a:p>
          <a:p>
            <a:pPr>
              <a:spcAft>
                <a:spcPts val="1000"/>
              </a:spcAft>
              <a:defRPr sz="1700">
                <a:solidFill>
                  <a:srgbClr val="B0B0C8"/>
                </a:solidFill>
                <a:latin typeface="Calibri"/>
              </a:defRPr>
            </a:pPr>
            <a:r>
              <a:t>Built-in Mock LLM — full dev parity, no API key needed</a:t>
            </a:r>
          </a:p>
          <a:p>
            <a:pPr>
              <a:spcAft>
                <a:spcPts val="1000"/>
              </a:spcAft>
              <a:defRPr sz="1700">
                <a:solidFill>
                  <a:srgbClr val="B0B0C8"/>
                </a:solidFill>
                <a:latin typeface="Calibri"/>
              </a:defRPr>
            </a:pPr>
            <a:r>
              <a:t>Per-agent model config in YAML — switch at deploy time</a:t>
            </a:r>
          </a:p>
          <a:p>
            <a:pPr>
              <a:spcAft>
                <a:spcPts val="1000"/>
              </a:spcAft>
              <a:defRPr sz="1700">
                <a:solidFill>
                  <a:srgbClr val="B0B0C8"/>
                </a:solidFill>
                <a:latin typeface="Calibri"/>
              </a:defRPr>
            </a:pPr>
            <a:r>
              <a:t>Pluggable provider interface — add any LLM in one 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6B8A"/>
                </a:solidFill>
                <a:latin typeface="Calibri"/>
              </a:defRPr>
            </a:pPr>
            <a: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AA"/>
                </a:solidFill>
                <a:latin typeface="Calibri"/>
              </a:defRPr>
            </a:pPr>
            <a:r>
              <a:t>KNOWLEDGE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109728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RAG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B0B0C8"/>
                </a:solidFill>
                <a:latin typeface="Calibri"/>
              </a:defRPr>
            </a:pPr>
            <a:r>
              <a:t>Vector-based retrieval augmented generation</a:t>
            </a:r>
          </a:p>
          <a:p>
            <a:pPr>
              <a:spcAft>
                <a:spcPts val="1000"/>
              </a:spcAft>
              <a:defRPr sz="1700">
                <a:solidFill>
                  <a:srgbClr val="B0B0C8"/>
                </a:solidFill>
                <a:latin typeface="Calibri"/>
              </a:defRPr>
            </a:pPr>
            <a:r>
              <a:t>Configurable chunk size &amp; top-K retrieval</a:t>
            </a:r>
          </a:p>
          <a:p>
            <a:pPr>
              <a:spcAft>
                <a:spcPts val="1000"/>
              </a:spcAft>
              <a:defRPr sz="1700">
                <a:solidFill>
                  <a:srgbClr val="B0B0C8"/>
                </a:solidFill>
                <a:latin typeface="Calibri"/>
              </a:defRPr>
            </a:pPr>
            <a:r>
              <a:t>Source-grounded citations in every response</a:t>
            </a:r>
          </a:p>
          <a:p>
            <a:pPr>
              <a:spcAft>
                <a:spcPts val="1000"/>
              </a:spcAft>
              <a:defRPr sz="1700">
                <a:solidFill>
                  <a:srgbClr val="B0B0C8"/>
                </a:solidFill>
                <a:latin typeface="Calibri"/>
              </a:defRPr>
            </a:pPr>
            <a:r>
              <a:t>Knowledge base → vector embeddings pipeline</a:t>
            </a:r>
          </a:p>
          <a:p>
            <a:pPr>
              <a:spcAft>
                <a:spcPts val="1000"/>
              </a:spcAft>
              <a:defRPr sz="1700">
                <a:solidFill>
                  <a:srgbClr val="B0B0C8"/>
                </a:solidFill>
                <a:latin typeface="Calibri"/>
              </a:defRPr>
            </a:pPr>
            <a:r>
              <a:t>Per-agent KB config in YAML agent definitions</a:t>
            </a:r>
          </a:p>
          <a:p>
            <a:pPr>
              <a:spcAft>
                <a:spcPts val="1000"/>
              </a:spcAft>
              <a:defRPr sz="1700">
                <a:solidFill>
                  <a:srgbClr val="B0B0C8"/>
                </a:solidFill>
                <a:latin typeface="Calibri"/>
              </a:defRPr>
            </a:pPr>
            <a:r>
              <a:t>Adjustable retrieval threshold per use 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3200400"/>
            <a:ext cx="3200400" cy="2286000"/>
          </a:xfrm>
          <a:prstGeom prst="roundRect">
            <a:avLst>
              <a:gd name="adj" fmla="val 5000"/>
            </a:avLst>
          </a:prstGeom>
          <a:solidFill>
            <a:srgbClr val="11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3474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RAG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39319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0C8"/>
                </a:solidFill>
                <a:latin typeface="Calibri"/>
              </a:defRPr>
            </a:pPr>
            <a:r>
              <a:t>Query → Embed → Retrieve → Augment → Generate</a:t>
            </a:r>
          </a:p>
          <a:p>
            <a:pPr>
              <a:spcAft>
                <a:spcPts val="400"/>
              </a:spcAft>
              <a:defRPr sz="1100">
                <a:solidFill>
                  <a:srgbClr val="B0B0C8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B0B0C8"/>
                </a:solidFill>
                <a:latin typeface="Calibri"/>
              </a:defRPr>
            </a:pPr>
            <a:r>
              <a:t>User question chunked,</a:t>
            </a:r>
          </a:p>
          <a:p>
            <a:pPr>
              <a:spcAft>
                <a:spcPts val="400"/>
              </a:spcAft>
              <a:defRPr sz="1100">
                <a:solidFill>
                  <a:srgbClr val="B0B0C8"/>
                </a:solidFill>
                <a:latin typeface="Calibri"/>
              </a:defRPr>
            </a:pPr>
            <a:r>
              <a:t>matched against KB,</a:t>
            </a:r>
          </a:p>
          <a:p>
            <a:pPr>
              <a:spcAft>
                <a:spcPts val="400"/>
              </a:spcAft>
              <a:defRPr sz="1100">
                <a:solidFill>
                  <a:srgbClr val="B0B0C8"/>
                </a:solidFill>
                <a:latin typeface="Calibri"/>
              </a:defRPr>
            </a:pPr>
            <a:r>
              <a:t>injected into prompt</a:t>
            </a:r>
          </a:p>
          <a:p>
            <a:pPr>
              <a:spcAft>
                <a:spcPts val="400"/>
              </a:spcAft>
              <a:defRPr sz="1100">
                <a:solidFill>
                  <a:srgbClr val="B0B0C8"/>
                </a:solidFill>
                <a:latin typeface="Calibri"/>
              </a:defRPr>
            </a:pPr>
            <a:r>
              <a:t>with source citations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6B8A"/>
                </a:solidFill>
                <a:latin typeface="Calibri"/>
              </a:defRPr>
            </a:pPr>
            <a: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AA"/>
                </a:solidFill>
                <a:latin typeface="Calibri"/>
              </a:defRPr>
            </a:pPr>
            <a:r>
              <a:t>TELEPHONY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109728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Voice &amp; PSTN</a:t>
            </a:r>
          </a:p>
        </p:txBody>
      </p:sp>
      <p:sp>
        <p:nvSpPr>
          <p:cNvPr id="5" name="Oval 4"/>
          <p:cNvSpPr/>
          <p:nvPr/>
        </p:nvSpPr>
        <p:spPr>
          <a:xfrm>
            <a:off x="-457200" y="3657600"/>
            <a:ext cx="1828800" cy="18288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B0B0C8"/>
                </a:solidFill>
                <a:latin typeface="Calibri"/>
              </a:defRPr>
            </a:pPr>
            <a:r>
              <a:t>Twilio Programmable Voice — production PSTN</a:t>
            </a:r>
          </a:p>
          <a:p>
            <a:pPr>
              <a:spcAft>
                <a:spcPts val="600"/>
              </a:spcAft>
              <a:defRPr sz="1600">
                <a:solidFill>
                  <a:srgbClr val="B0B0C8"/>
                </a:solidFill>
                <a:latin typeface="Calibri"/>
              </a:defRPr>
            </a:pPr>
            <a:r>
              <a:t>Amazon Connect — CCaaS integration</a:t>
            </a:r>
          </a:p>
          <a:p>
            <a:pPr>
              <a:spcAft>
                <a:spcPts val="600"/>
              </a:spcAft>
              <a:defRPr sz="1600">
                <a:solidFill>
                  <a:srgbClr val="B0B0C8"/>
                </a:solidFill>
                <a:latin typeface="Calibri"/>
              </a:defRPr>
            </a:pPr>
            <a:r>
              <a:t>Generic SIP / CCaaS — any SIP trunk supported</a:t>
            </a:r>
          </a:p>
          <a:p>
            <a:pPr>
              <a:spcAft>
                <a:spcPts val="600"/>
              </a:spcAft>
              <a:defRPr sz="1600">
                <a:solidFill>
                  <a:srgbClr val="B0B0C8"/>
                </a:solidFill>
                <a:latin typeface="Calibri"/>
              </a:defRPr>
            </a:pPr>
            <a:r>
              <a:t>VAPI.ai &amp; Retell AI — AI voice agent overlays</a:t>
            </a:r>
          </a:p>
          <a:p>
            <a:pPr>
              <a:spcAft>
                <a:spcPts val="600"/>
              </a:spcAft>
              <a:defRPr sz="1600">
                <a:solidFill>
                  <a:srgbClr val="B0B0C8"/>
                </a:solidFill>
                <a:latin typeface="Calibri"/>
              </a:defRPr>
            </a:pPr>
            <a:r>
              <a:t>Built-in simulator — full voice testing without hardware</a:t>
            </a:r>
          </a:p>
          <a:p>
            <a:pPr>
              <a:spcAft>
                <a:spcPts val="600"/>
              </a:spcAft>
              <a:defRPr sz="1600">
                <a:solidFill>
                  <a:srgbClr val="B0B0C8"/>
                </a:solidFill>
                <a:latin typeface="Calibri"/>
              </a:defRPr>
            </a:pPr>
            <a:r>
              <a:t>Deepgram &amp; AssemblyAI for STT</a:t>
            </a:r>
          </a:p>
          <a:p>
            <a:pPr>
              <a:spcAft>
                <a:spcPts val="600"/>
              </a:spcAft>
              <a:defRPr sz="1600">
                <a:solidFill>
                  <a:srgbClr val="B0B0C8"/>
                </a:solidFill>
                <a:latin typeface="Calibri"/>
              </a:defRPr>
            </a:pPr>
            <a:r>
              <a:t>ElevenLabs &amp; PlayHT for TTS</a:t>
            </a:r>
          </a:p>
          <a:p>
            <a:pPr>
              <a:spcAft>
                <a:spcPts val="600"/>
              </a:spcAft>
              <a:defRPr sz="1600">
                <a:solidFill>
                  <a:srgbClr val="B0B0C8"/>
                </a:solidFill>
                <a:latin typeface="Calibri"/>
              </a:defRPr>
            </a:pPr>
            <a:r>
              <a:t>Call status tracking &amp; logs via REST API</a:t>
            </a:r>
          </a:p>
          <a:p>
            <a:pPr>
              <a:spcAft>
                <a:spcPts val="600"/>
              </a:spcAft>
              <a:defRPr sz="1600">
                <a:solidFill>
                  <a:srgbClr val="B0B0C8"/>
                </a:solidFill>
                <a:latin typeface="Calibri"/>
              </a:defRPr>
            </a:pPr>
            <a:r>
              <a:t>Twilio webhooks + status callbacks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6B8A"/>
                </a:solidFill>
                <a:latin typeface="Calibri"/>
              </a:defRPr>
            </a:pPr>
            <a: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AA"/>
                </a:solidFill>
                <a:latin typeface="Calibri"/>
              </a:defRPr>
            </a:pPr>
            <a:r>
              <a:t>OPTIMIZATION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109728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Feedback Engine</a:t>
            </a:r>
          </a:p>
        </p:txBody>
      </p:sp>
      <p:sp>
        <p:nvSpPr>
          <p:cNvPr id="5" name="Oval 4"/>
          <p:cNvSpPr/>
          <p:nvPr/>
        </p:nvSpPr>
        <p:spPr>
          <a:xfrm>
            <a:off x="10058400" y="457200"/>
            <a:ext cx="1371600" cy="13716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B0B0C8"/>
                </a:solidFill>
                <a:latin typeface="Calibri"/>
              </a:defRPr>
            </a:pPr>
            <a:r>
              <a:t>User rates responses — 👍 / 👎 / CSAT score</a:t>
            </a:r>
          </a:p>
          <a:p>
            <a:pPr>
              <a:spcAft>
                <a:spcPts val="800"/>
              </a:spcAft>
              <a:defRPr sz="1700">
                <a:solidFill>
                  <a:srgbClr val="B0B0C8"/>
                </a:solidFill>
                <a:latin typeface="Calibri"/>
              </a:defRPr>
            </a:pPr>
            <a:r>
              <a:t>CSAT dynamically tunes agent temperature</a:t>
            </a:r>
          </a:p>
          <a:p>
            <a:pPr>
              <a:spcAft>
                <a:spcPts val="800"/>
              </a:spcAft>
              <a:defRPr sz="1700">
                <a:solidFill>
                  <a:srgbClr val="B0B0C8"/>
                </a:solidFill>
                <a:latin typeface="Calibri"/>
              </a:defRPr>
            </a:pPr>
            <a:r>
              <a:t>Adjusts RAG retrieval threshold based on feedback data</a:t>
            </a:r>
          </a:p>
          <a:p>
            <a:pPr>
              <a:spcAft>
                <a:spcPts val="800"/>
              </a:spcAft>
              <a:defRPr sz="1700">
                <a:solidFill>
                  <a:srgbClr val="B0B0C8"/>
                </a:solidFill>
                <a:latin typeface="Calibri"/>
              </a:defRPr>
            </a:pPr>
            <a:r>
              <a:t>Sentiment tracking across sessions &amp; channels</a:t>
            </a:r>
          </a:p>
          <a:p>
            <a:pPr>
              <a:spcAft>
                <a:spcPts val="800"/>
              </a:spcAft>
              <a:defRPr sz="1700">
                <a:solidFill>
                  <a:srgbClr val="B0B0C8"/>
                </a:solidFill>
                <a:latin typeface="Calibri"/>
              </a:defRPr>
            </a:pPr>
            <a:r>
              <a:t>All feedback logged for dashboard &amp; analysis</a:t>
            </a:r>
          </a:p>
          <a:p>
            <a:pPr>
              <a:spcAft>
                <a:spcPts val="800"/>
              </a:spcAft>
              <a:defRPr sz="1700">
                <a:solidFill>
                  <a:srgbClr val="B0B0C8"/>
                </a:solidFill>
                <a:latin typeface="Calibri"/>
              </a:defRPr>
            </a:pPr>
            <a:r>
              <a:t>Enables continuous improvement without manual tuning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515600" cy="1371600"/>
          </a:xfrm>
          <a:prstGeom prst="roundRect">
            <a:avLst>
              <a:gd name="adj" fmla="val 5000"/>
            </a:avLst>
          </a:prstGeom>
          <a:solidFill>
            <a:srgbClr val="11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Feedback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303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8"/>
                </a:solidFill>
                <a:latin typeface="Calibri"/>
              </a:defRPr>
            </a:pPr>
            <a:r>
              <a:t>Rating Submitted  →  Temperature Adjusted  →  RAG Threshold Tuned  →  Next Response Improves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6B8A"/>
                </a:solidFill>
                <a:latin typeface="Calibri"/>
              </a:defRPr>
            </a:pPr>
            <a: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AA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109728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Vault &amp; Credential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0B0C8"/>
                </a:solidFill>
                <a:latin typeface="Calibri"/>
              </a:defRPr>
            </a:pPr>
            <a:r>
              <a:t>AES-256-GCM encrypted vault — all credentials at rest</a:t>
            </a:r>
          </a:p>
          <a:p>
            <a:pPr>
              <a:spcAft>
                <a:spcPts val="800"/>
              </a:spcAft>
              <a:defRPr sz="1600">
                <a:solidFill>
                  <a:srgbClr val="B0B0C8"/>
                </a:solidFill>
                <a:latin typeface="Calibri"/>
              </a:defRPr>
            </a:pPr>
            <a:r>
              <a:t>REST API for CRUD on integration credentials</a:t>
            </a:r>
          </a:p>
          <a:p>
            <a:pPr>
              <a:spcAft>
                <a:spcPts val="800"/>
              </a:spcAft>
              <a:defRPr sz="1600">
                <a:solidFill>
                  <a:srgbClr val="B0B0C8"/>
                </a:solidFill>
                <a:latin typeface="Calibri"/>
              </a:defRPr>
            </a:pPr>
            <a:r>
              <a:t>JWT authentication with configurable expiry</a:t>
            </a:r>
          </a:p>
          <a:p>
            <a:pPr>
              <a:spcAft>
                <a:spcPts val="800"/>
              </a:spcAft>
              <a:defRPr sz="1600">
                <a:solidFill>
                  <a:srgbClr val="B0B0C8"/>
                </a:solidFill>
                <a:latin typeface="Calibri"/>
              </a:defRPr>
            </a:pPr>
            <a:r>
              <a:t>Pydantic input validation on every endpoint</a:t>
            </a:r>
          </a:p>
          <a:p>
            <a:pPr>
              <a:spcAft>
                <a:spcPts val="800"/>
              </a:spcAft>
              <a:defRPr sz="1600">
                <a:solidFill>
                  <a:srgbClr val="B0B0C8"/>
                </a:solidFill>
                <a:latin typeface="Calibri"/>
              </a:defRPr>
            </a:pPr>
            <a:r>
              <a:t>Strict CORS origin whitelist</a:t>
            </a:r>
          </a:p>
          <a:p>
            <a:pPr>
              <a:spcAft>
                <a:spcPts val="800"/>
              </a:spcAft>
              <a:defRPr sz="1600">
                <a:solidFill>
                  <a:srgbClr val="B0B0C8"/>
                </a:solidFill>
                <a:latin typeface="Calibri"/>
              </a:defRPr>
            </a:pPr>
            <a:r>
              <a:t>.env never committed — all secrets externalized</a:t>
            </a:r>
          </a:p>
          <a:p>
            <a:pPr>
              <a:spcAft>
                <a:spcPts val="800"/>
              </a:spcAft>
              <a:defRPr sz="1600">
                <a:solidFill>
                  <a:srgbClr val="B0B0C8"/>
                </a:solidFill>
                <a:latin typeface="Calibri"/>
              </a:defRPr>
            </a:pPr>
            <a:r>
              <a:t>No plaintext keys stored in memory beyond request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3200400"/>
            <a:ext cx="2743200" cy="2560320"/>
          </a:xfrm>
          <a:prstGeom prst="roundRect">
            <a:avLst>
              <a:gd name="adj" fmla="val 5000"/>
            </a:avLst>
          </a:prstGeom>
          <a:solidFill>
            <a:srgbClr val="11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Calibri"/>
              </a:defRPr>
            </a:pPr>
            <a:r>
              <a:t>Encryption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38404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0B0C8"/>
                </a:solidFill>
                <a:latin typeface="Calibri"/>
              </a:defRPr>
            </a:pPr>
            <a:r>
              <a:t>Key in .env</a:t>
            </a:r>
          </a:p>
          <a:p>
            <a:pPr>
              <a:spcAft>
                <a:spcPts val="200"/>
              </a:spcAft>
              <a:defRPr sz="1100">
                <a:solidFill>
                  <a:srgbClr val="B0B0C8"/>
                </a:solidFill>
                <a:latin typeface="Calibri"/>
              </a:defRPr>
            </a:pPr>
            <a:r>
              <a:t>  ↓</a:t>
            </a:r>
          </a:p>
          <a:p>
            <a:pPr>
              <a:spcAft>
                <a:spcPts val="200"/>
              </a:spcAft>
              <a:defRPr sz="1100">
                <a:solidFill>
                  <a:srgbClr val="B0B0C8"/>
                </a:solidFill>
                <a:latin typeface="Calibri"/>
              </a:defRPr>
            </a:pPr>
            <a:r>
              <a:t>AES-256-GCM</a:t>
            </a:r>
          </a:p>
          <a:p>
            <a:pPr>
              <a:spcAft>
                <a:spcPts val="200"/>
              </a:spcAft>
              <a:defRPr sz="1100">
                <a:solidFill>
                  <a:srgbClr val="B0B0C8"/>
                </a:solidFill>
                <a:latin typeface="Calibri"/>
              </a:defRPr>
            </a:pPr>
            <a:r>
              <a:t>  ↓</a:t>
            </a:r>
          </a:p>
          <a:p>
            <a:pPr>
              <a:spcAft>
                <a:spcPts val="200"/>
              </a:spcAft>
              <a:defRPr sz="1100">
                <a:solidFill>
                  <a:srgbClr val="B0B0C8"/>
                </a:solidFill>
                <a:latin typeface="Calibri"/>
              </a:defRPr>
            </a:pPr>
            <a:r>
              <a:t>Ciphertext → DB</a:t>
            </a:r>
          </a:p>
          <a:p>
            <a:pPr>
              <a:spcAft>
                <a:spcPts val="200"/>
              </a:spcAft>
              <a:defRPr sz="1100">
                <a:solidFill>
                  <a:srgbClr val="B0B0C8"/>
                </a:solidFill>
                <a:latin typeface="Calibri"/>
              </a:defRPr>
            </a:pPr>
            <a:r>
              <a:t>  ↓</a:t>
            </a:r>
          </a:p>
          <a:p>
            <a:pPr>
              <a:spcAft>
                <a:spcPts val="200"/>
              </a:spcAft>
              <a:defRPr sz="1100">
                <a:solidFill>
                  <a:srgbClr val="B0B0C8"/>
                </a:solidFill>
                <a:latin typeface="Calibri"/>
              </a:defRPr>
            </a:pPr>
            <a:r>
              <a:t>Decrypt on 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6B8A"/>
                </a:solidFill>
                <a:latin typeface="Calibri"/>
              </a:defRPr>
            </a:pPr>
            <a: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AA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109728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Console UI</a:t>
            </a:r>
          </a:p>
        </p:txBody>
      </p:sp>
      <p:sp>
        <p:nvSpPr>
          <p:cNvPr id="5" name="Oval 4"/>
          <p:cNvSpPr/>
          <p:nvPr/>
        </p:nvSpPr>
        <p:spPr>
          <a:xfrm>
            <a:off x="10515600" y="4114800"/>
            <a:ext cx="1828800" cy="18288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B0B0C8"/>
                </a:solidFill>
                <a:latin typeface="Calibri"/>
              </a:defRPr>
            </a:pPr>
            <a:r>
              <a:t>Dark mode with premium animations &amp; micro-interactions</a:t>
            </a:r>
          </a:p>
          <a:p>
            <a:pPr>
              <a:spcAft>
                <a:spcPts val="600"/>
              </a:spcAft>
              <a:defRPr sz="1600">
                <a:solidFill>
                  <a:srgbClr val="B0B0C8"/>
                </a:solidFill>
                <a:latin typeface="Calibri"/>
              </a:defRPr>
            </a:pPr>
            <a:r>
              <a:t>Three-channel tabs: Chat / Copilot / Voice</a:t>
            </a:r>
          </a:p>
          <a:p>
            <a:pPr>
              <a:spcAft>
                <a:spcPts val="600"/>
              </a:spcAft>
              <a:defRPr sz="1600">
                <a:solidFill>
                  <a:srgbClr val="B0B0C8"/>
                </a:solidFill>
                <a:latin typeface="Calibri"/>
              </a:defRPr>
            </a:pPr>
            <a:r>
              <a:t>Per-mode message filtering + sync toggle (🔗 / ⊘)</a:t>
            </a:r>
          </a:p>
          <a:p>
            <a:pPr>
              <a:spcAft>
                <a:spcPts val="600"/>
              </a:spcAft>
              <a:defRPr sz="1600">
                <a:solidFill>
                  <a:srgbClr val="B0B0C8"/>
                </a:solidFill>
                <a:latin typeface="Calibri"/>
              </a:defRPr>
            </a:pPr>
            <a:r>
              <a:t>Session sidebar — create, rename, switch, clear</a:t>
            </a:r>
          </a:p>
          <a:p>
            <a:pPr>
              <a:spcAft>
                <a:spcPts val="600"/>
              </a:spcAft>
              <a:defRPr sz="1600">
                <a:solidFill>
                  <a:srgbClr val="B0B0C8"/>
                </a:solidFill>
                <a:latin typeface="Calibri"/>
              </a:defRPr>
            </a:pPr>
            <a:r>
              <a:t>SSE streaming — word-by-word token display</a:t>
            </a:r>
          </a:p>
          <a:p>
            <a:pPr>
              <a:spcAft>
                <a:spcPts val="600"/>
              </a:spcAft>
              <a:defRPr sz="1600">
                <a:solidFill>
                  <a:srgbClr val="B0B0C8"/>
                </a:solidFill>
                <a:latin typeface="Calibri"/>
              </a:defRPr>
            </a:pPr>
            <a:r>
              <a:t>Typing indicator, streaming cursor, entrance animations</a:t>
            </a:r>
          </a:p>
          <a:p>
            <a:pPr>
              <a:spcAft>
                <a:spcPts val="600"/>
              </a:spcAft>
              <a:defRPr sz="1600">
                <a:solidFill>
                  <a:srgbClr val="B0B0C8"/>
                </a:solidFill>
                <a:latin typeface="Calibri"/>
              </a:defRPr>
            </a:pPr>
            <a:r>
              <a:t>Welcome screen with per-mode placeholders</a:t>
            </a:r>
          </a:p>
          <a:p>
            <a:pPr>
              <a:spcAft>
                <a:spcPts val="600"/>
              </a:spcAft>
              <a:defRPr sz="1600">
                <a:solidFill>
                  <a:srgbClr val="B0B0C8"/>
                </a:solidFill>
                <a:latin typeface="Calibri"/>
              </a:defRPr>
            </a:pPr>
            <a:r>
              <a:t>Scrollable history, button glow effects, thin scrollbars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6B8A"/>
                </a:solidFill>
                <a:latin typeface="Calibri"/>
              </a:defRPr>
            </a:pPr>
            <a: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AA"/>
                </a:solidFill>
                <a:latin typeface="Calibri"/>
              </a:defRPr>
            </a:pPr>
            <a:r>
              <a:t>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109728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iPaaS Webhooks</a:t>
            </a:r>
          </a:p>
        </p:txBody>
      </p:sp>
      <p:sp>
        <p:nvSpPr>
          <p:cNvPr id="5" name="Oval 4"/>
          <p:cNvSpPr/>
          <p:nvPr/>
        </p:nvSpPr>
        <p:spPr>
          <a:xfrm>
            <a:off x="-274320" y="457200"/>
            <a:ext cx="1645920" cy="16459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0B0C8"/>
                </a:solidFill>
                <a:latin typeface="Calibri"/>
              </a:defRPr>
            </a:pPr>
            <a:r>
              <a:t>Lifecycle event webhooks for n8n, Zapier, and custom flows</a:t>
            </a:r>
          </a:p>
          <a:p>
            <a:pPr>
              <a:spcAft>
                <a:spcPts val="800"/>
              </a:spcAft>
              <a:defRPr sz="1600">
                <a:solidFill>
                  <a:srgbClr val="B0B0C8"/>
                </a:solidFill>
                <a:latin typeface="Calibri"/>
              </a:defRPr>
            </a:pPr>
            <a:r>
              <a:t>Events: session.created · message.completed · feedback.submitted</a:t>
            </a:r>
          </a:p>
          <a:p>
            <a:pPr>
              <a:spcAft>
                <a:spcPts val="800"/>
              </a:spcAft>
              <a:defRPr sz="1600">
                <a:solidFill>
                  <a:srgbClr val="B0B0C8"/>
                </a:solidFill>
                <a:latin typeface="Calibri"/>
              </a:defRPr>
            </a:pPr>
            <a:r>
              <a:t>Async HTTP dispatch via httpx — non-blocking</a:t>
            </a:r>
          </a:p>
          <a:p>
            <a:pPr>
              <a:spcAft>
                <a:spcPts val="800"/>
              </a:spcAft>
              <a:defRPr sz="1600">
                <a:solidFill>
                  <a:srgbClr val="B0B0C8"/>
                </a:solidFill>
                <a:latin typeface="Calibri"/>
              </a:defRPr>
            </a:pPr>
            <a:r>
              <a:t>Event history endpoint for debugging &amp; replay</a:t>
            </a:r>
          </a:p>
          <a:p>
            <a:pPr>
              <a:spcAft>
                <a:spcPts val="800"/>
              </a:spcAft>
              <a:defRPr sz="1600">
                <a:solidFill>
                  <a:srgbClr val="B0B0C8"/>
                </a:solidFill>
                <a:latin typeface="Calibri"/>
              </a:defRPr>
            </a:pPr>
            <a:r>
              <a:t>Connect to CRMs: Salesforce, Zendesk, ServiceNow</a:t>
            </a:r>
          </a:p>
          <a:p>
            <a:pPr>
              <a:spcAft>
                <a:spcPts val="800"/>
              </a:spcAft>
              <a:defRPr sz="1600">
                <a:solidFill>
                  <a:srgbClr val="B0B0C8"/>
                </a:solidFill>
                <a:latin typeface="Calibri"/>
              </a:defRPr>
            </a:pPr>
            <a:r>
              <a:t>Notifications: Slack, email, and more</a:t>
            </a:r>
          </a:p>
          <a:p>
            <a:pPr>
              <a:spcAft>
                <a:spcPts val="800"/>
              </a:spcAft>
              <a:defRPr sz="1600">
                <a:solidFill>
                  <a:srgbClr val="B0B0C8"/>
                </a:solidFill>
                <a:latin typeface="Calibri"/>
              </a:defRPr>
            </a:pPr>
            <a:r>
              <a:t>Template workflows included for n8n &amp; Zapier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6B8A"/>
                </a:solidFill>
                <a:latin typeface="Calibri"/>
              </a:defRPr>
            </a:pPr>
            <a: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AA"/>
                </a:solidFill>
                <a:latin typeface="Calibri"/>
              </a:defRPr>
            </a:pPr>
            <a:r>
              <a:t>CONFIGURATION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109728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Agent Definitions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8"/>
                </a:solidFill>
                <a:latin typeface="Calibri"/>
              </a:defRPr>
            </a:pPr>
            <a:r>
              <a:t>Agents are defined in YAML — no code changes needed: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10058400" cy="2926080"/>
          </a:xfrm>
          <a:prstGeom prst="roundRect">
            <a:avLst>
              <a:gd name="adj" fmla="val 5000"/>
            </a:avLst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9601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A0CC88"/>
                </a:solidFill>
                <a:latin typeface="Calibri"/>
              </a:defRPr>
            </a:pPr>
            <a:r>
              <a:t># config/agents/support.yaml</a:t>
            </a:r>
          </a:p>
          <a:p>
            <a:pPr>
              <a:spcAft>
                <a:spcPts val="100"/>
              </a:spcAft>
              <a:defRPr sz="1300">
                <a:solidFill>
                  <a:srgbClr val="A0CC88"/>
                </a:solidFill>
                <a:latin typeface="Calibri"/>
              </a:defRPr>
            </a:pPr>
            <a:r>
              <a:t>name: acme_support</a:t>
            </a:r>
          </a:p>
          <a:p>
            <a:pPr>
              <a:spcAft>
                <a:spcPts val="100"/>
              </a:spcAft>
              <a:defRPr sz="1300">
                <a:solidFill>
                  <a:srgbClr val="A0CC88"/>
                </a:solidFill>
                <a:latin typeface="Calibri"/>
              </a:defRPr>
            </a:pPr>
            <a:r>
              <a:t>display_name: ACME Support Agent</a:t>
            </a:r>
          </a:p>
          <a:p>
            <a:pPr>
              <a:spcAft>
                <a:spcPts val="100"/>
              </a:spcAft>
              <a:defRPr sz="1300">
                <a:solidFill>
                  <a:srgbClr val="A0CC88"/>
                </a:solidFill>
                <a:latin typeface="Calibri"/>
              </a:defRPr>
            </a:pPr>
            <a:r>
              <a:t>model: gpt-4o-mini</a:t>
            </a:r>
          </a:p>
          <a:p>
            <a:pPr>
              <a:spcAft>
                <a:spcPts val="100"/>
              </a:spcAft>
              <a:defRPr sz="1300">
                <a:solidFill>
                  <a:srgbClr val="A0CC88"/>
                </a:solidFill>
                <a:latin typeface="Calibri"/>
              </a:defRPr>
            </a:pPr>
            <a:r>
              <a:t>temperature: 0.7</a:t>
            </a:r>
          </a:p>
          <a:p>
            <a:pPr>
              <a:spcAft>
                <a:spcPts val="100"/>
              </a:spcAft>
              <a:defRPr sz="1300">
                <a:solidFill>
                  <a:srgbClr val="A0CC88"/>
                </a:solidFill>
                <a:latin typeface="Calibri"/>
              </a:defRPr>
            </a:pPr>
            <a:r>
              <a:t>system_prompt: |</a:t>
            </a:r>
          </a:p>
          <a:p>
            <a:pPr>
              <a:spcAft>
                <a:spcPts val="100"/>
              </a:spcAft>
              <a:defRPr sz="1300">
                <a:solidFill>
                  <a:srgbClr val="A0CC88"/>
                </a:solidFill>
                <a:latin typeface="Calibri"/>
              </a:defRPr>
            </a:pPr>
            <a:r>
              <a:t>  You are a helpful support agent for ACME Corp.</a:t>
            </a:r>
          </a:p>
          <a:p>
            <a:pPr>
              <a:spcAft>
                <a:spcPts val="100"/>
              </a:spcAft>
              <a:defRPr sz="1300">
                <a:solidFill>
                  <a:srgbClr val="A0CC88"/>
                </a:solidFill>
                <a:latin typeface="Calibri"/>
              </a:defRPr>
            </a:pPr>
            <a:r>
              <a:t>  Answer questions based on the knowledge base.</a:t>
            </a:r>
          </a:p>
          <a:p>
            <a:pPr>
              <a:spcAft>
                <a:spcPts val="100"/>
              </a:spcAft>
              <a:defRPr sz="1300">
                <a:solidFill>
                  <a:srgbClr val="A0CC88"/>
                </a:solidFill>
                <a:latin typeface="Calibri"/>
              </a:defRPr>
            </a:pPr>
            <a:r>
              <a:t>knowledge_base:</a:t>
            </a:r>
          </a:p>
          <a:p>
            <a:pPr>
              <a:spcAft>
                <a:spcPts val="100"/>
              </a:spcAft>
              <a:defRPr sz="1300">
                <a:solidFill>
                  <a:srgbClr val="A0CC88"/>
                </a:solidFill>
                <a:latin typeface="Calibri"/>
              </a:defRPr>
            </a:pPr>
            <a:r>
              <a:t>  source: docs/knowledge_base/acme_support.md</a:t>
            </a:r>
          </a:p>
          <a:p>
            <a:pPr>
              <a:spcAft>
                <a:spcPts val="100"/>
              </a:spcAft>
              <a:defRPr sz="1300">
                <a:solidFill>
                  <a:srgbClr val="A0CC88"/>
                </a:solidFill>
                <a:latin typeface="Calibri"/>
              </a:defRPr>
            </a:pPr>
            <a:r>
              <a:t>rag:</a:t>
            </a:r>
          </a:p>
          <a:p>
            <a:pPr>
              <a:spcAft>
                <a:spcPts val="100"/>
              </a:spcAft>
              <a:defRPr sz="1300">
                <a:solidFill>
                  <a:srgbClr val="A0CC88"/>
                </a:solidFill>
                <a:latin typeface="Calibri"/>
              </a:defRPr>
            </a:pPr>
            <a:r>
              <a:t>  enabled: true</a:t>
            </a:r>
          </a:p>
          <a:p>
            <a:pPr>
              <a:spcAft>
                <a:spcPts val="100"/>
              </a:spcAft>
              <a:defRPr sz="1300">
                <a:solidFill>
                  <a:srgbClr val="A0CC88"/>
                </a:solidFill>
                <a:latin typeface="Calibri"/>
              </a:defRPr>
            </a:pPr>
            <a:r>
              <a:t>  chunk_size: 512</a:t>
            </a:r>
          </a:p>
          <a:p>
            <a:pPr>
              <a:spcAft>
                <a:spcPts val="100"/>
              </a:spcAft>
              <a:defRPr sz="1300">
                <a:solidFill>
                  <a:srgbClr val="A0CC88"/>
                </a:solidFill>
                <a:latin typeface="Calibri"/>
              </a:defRPr>
            </a:pPr>
            <a:r>
              <a:t>  top_k: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6B8A"/>
                </a:solidFill>
                <a:latin typeface="Calibri"/>
              </a:defRPr>
            </a:pPr>
            <a: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AA"/>
                </a:solidFill>
                <a:latin typeface="Calibri"/>
              </a:defRPr>
            </a:pPr>
            <a:r>
              <a:t>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109728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Deployment Options</a:t>
            </a:r>
          </a:p>
        </p:txBody>
      </p:sp>
      <p:sp>
        <p:nvSpPr>
          <p:cNvPr id="5" name="Oval 4"/>
          <p:cNvSpPr/>
          <p:nvPr/>
        </p:nvSpPr>
        <p:spPr>
          <a:xfrm>
            <a:off x="9601200" y="4572000"/>
            <a:ext cx="1828800" cy="18288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463040" cy="320040"/>
          </a:xfrm>
          <a:prstGeom prst="roundRect">
            <a:avLst>
              <a:gd name="adj" fmla="val 4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1031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4AA"/>
                </a:solidFill>
                <a:latin typeface="Consolas"/>
              </a:defRPr>
            </a:pPr>
            <a:r>
              <a:t>docker compose -f deploy/docker/docker-compose.yml 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39"/>
            <a:ext cx="1463040" cy="320040"/>
          </a:xfrm>
          <a:prstGeom prst="roundRect">
            <a:avLst>
              <a:gd name="adj" fmla="val 4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Bare Metal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3291839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4AA"/>
                </a:solidFill>
                <a:latin typeface="Consolas"/>
              </a:defRPr>
            </a:pPr>
            <a:r>
              <a:t>uvicorn src.main:app --host 0.0.0.0 --port 8001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80560"/>
            <a:ext cx="1463040" cy="320040"/>
          </a:xfrm>
          <a:prstGeom prst="roundRect">
            <a:avLst>
              <a:gd name="adj" fmla="val 4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CI/CD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44805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4AA"/>
                </a:solidFill>
                <a:latin typeface="Consolas"/>
              </a:defRPr>
            </a:pPr>
            <a:r>
              <a:t>GitHub Actions — lint, test, e2e, build, 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6B8A"/>
                </a:solidFill>
                <a:latin typeface="Calibri"/>
              </a:defRPr>
            </a:pPr>
            <a: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AA"/>
                </a:solidFill>
                <a:latin typeface="Calibri"/>
              </a:defRPr>
            </a:pPr>
            <a:r>
              <a:t>QUALITY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109728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Testing &amp; CI/CD</a:t>
            </a:r>
          </a:p>
        </p:txBody>
      </p:sp>
      <p:sp>
        <p:nvSpPr>
          <p:cNvPr id="5" name="Oval 4"/>
          <p:cNvSpPr/>
          <p:nvPr/>
        </p:nvSpPr>
        <p:spPr>
          <a:xfrm>
            <a:off x="-274320" y="5029200"/>
            <a:ext cx="1828800" cy="18288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0B0C8"/>
                </a:solidFill>
                <a:latin typeface="Calibri"/>
              </a:defRPr>
            </a:pPr>
            <a:r>
              <a:t>158+ unit tests — routers, services, providers, vault</a:t>
            </a:r>
          </a:p>
          <a:p>
            <a:pPr>
              <a:spcAft>
                <a:spcPts val="800"/>
              </a:spcAft>
              <a:defRPr sz="1600">
                <a:solidFill>
                  <a:srgbClr val="B0B0C8"/>
                </a:solidFill>
                <a:latin typeface="Calibri"/>
              </a:defRPr>
            </a:pPr>
            <a:r>
              <a:t>33 comprehensive E2E tests — real user flow simulation</a:t>
            </a:r>
          </a:p>
          <a:p>
            <a:pPr>
              <a:spcAft>
                <a:spcPts val="800"/>
              </a:spcAft>
              <a:defRPr sz="1600">
                <a:solidFill>
                  <a:srgbClr val="B0B0C8"/>
                </a:solidFill>
                <a:latin typeface="Calibri"/>
              </a:defRPr>
            </a:pPr>
            <a:r>
              <a:t>Mock LLM provider — full coverage without API keys</a:t>
            </a:r>
          </a:p>
          <a:p>
            <a:pPr>
              <a:spcAft>
                <a:spcPts val="800"/>
              </a:spcAft>
              <a:defRPr sz="1600">
                <a:solidFill>
                  <a:srgbClr val="B0B0C8"/>
                </a:solidFill>
                <a:latin typeface="Calibri"/>
              </a:defRPr>
            </a:pPr>
            <a:r>
              <a:t>Ruff linter + mypy type checking in CI pipeline</a:t>
            </a:r>
          </a:p>
          <a:p>
            <a:pPr>
              <a:spcAft>
                <a:spcPts val="800"/>
              </a:spcAft>
              <a:defRPr sz="1600">
                <a:solidFill>
                  <a:srgbClr val="B0B0C8"/>
                </a:solidFill>
                <a:latin typeface="Calibri"/>
              </a:defRPr>
            </a:pPr>
            <a:r>
              <a:t>Coverage reports → reports/coverage/</a:t>
            </a:r>
          </a:p>
          <a:p>
            <a:pPr>
              <a:spcAft>
                <a:spcPts val="800"/>
              </a:spcAft>
              <a:defRPr sz="1600">
                <a:solidFill>
                  <a:srgbClr val="B0B0C8"/>
                </a:solidFill>
                <a:latin typeface="Calibri"/>
              </a:defRPr>
            </a:pPr>
            <a:r>
              <a:t>GitHub Actions: lint → test → e2e → docker build → deploy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29200"/>
            <a:ext cx="2194560" cy="320040"/>
          </a:xfrm>
          <a:prstGeom prst="roundRect">
            <a:avLst>
              <a:gd name="adj" fmla="val 5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pytest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5029200"/>
            <a:ext cx="2194560" cy="320040"/>
          </a:xfrm>
          <a:prstGeom prst="roundRect">
            <a:avLst>
              <a:gd name="adj" fmla="val 5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ruff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5029200"/>
            <a:ext cx="2194560" cy="320040"/>
          </a:xfrm>
          <a:prstGeom prst="roundRect">
            <a:avLst>
              <a:gd name="adj" fmla="val 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mypy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6B8A"/>
                </a:solidFill>
                <a:latin typeface="Calibri"/>
              </a:defRPr>
            </a:pPr>
            <a: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AA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109728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645920" cy="411480"/>
          </a:xfrm>
          <a:prstGeom prst="roundRect">
            <a:avLst>
              <a:gd name="adj" fmla="val 3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Runtime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20497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8"/>
                </a:solidFill>
                <a:latin typeface="Calibri"/>
              </a:defRPr>
            </a:pPr>
            <a:r>
              <a:t>Python 3.11+ · FastAPI · Uvicorn · SSE-Starlette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1645920" cy="411480"/>
          </a:xfrm>
          <a:prstGeom prst="roundRect">
            <a:avLst>
              <a:gd name="adj" fmla="val 3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6898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8"/>
                </a:solidFill>
                <a:latin typeface="Calibri"/>
              </a:defRPr>
            </a:pPr>
            <a:r>
              <a:t>OpenAI · Anthropic · Google Gemini · Mock Provider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91840"/>
            <a:ext cx="1645920" cy="411480"/>
          </a:xfrm>
          <a:prstGeom prst="roundRect">
            <a:avLst>
              <a:gd name="adj" fmla="val 3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2918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Voice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3299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8"/>
                </a:solidFill>
                <a:latin typeface="Calibri"/>
              </a:defRPr>
            </a:pPr>
            <a:r>
              <a:t>Twilio · Amazon Connect · Deepgram · ElevenLabs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1645920" cy="411480"/>
          </a:xfrm>
          <a:prstGeom prst="roundRect">
            <a:avLst>
              <a:gd name="adj" fmla="val 3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9319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9700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8"/>
                </a:solidFill>
                <a:latin typeface="Calibri"/>
              </a:defRPr>
            </a:pPr>
            <a:r>
              <a:t>RAG (Vector) · PostgreSQL · Redis · Pydantic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72000"/>
            <a:ext cx="1645920" cy="411480"/>
          </a:xfrm>
          <a:prstGeom prst="roundRect">
            <a:avLst>
              <a:gd name="adj" fmla="val 3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46101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8"/>
                </a:solidFill>
                <a:latin typeface="Calibri"/>
              </a:defRPr>
            </a:pPr>
            <a:r>
              <a:t>Vanilla JS · CSS · HTML · SSE Streaming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212080"/>
            <a:ext cx="1645920" cy="411480"/>
          </a:xfrm>
          <a:prstGeom prst="roundRect">
            <a:avLst>
              <a:gd name="adj" fmla="val 3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2120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Infra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52501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8"/>
                </a:solidFill>
                <a:latin typeface="Calibri"/>
              </a:defRPr>
            </a:pPr>
            <a:r>
              <a:t>Docker · GitHub Actions · n8n · Zapier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852159"/>
            <a:ext cx="1645920" cy="411480"/>
          </a:xfrm>
          <a:prstGeom prst="roundRect">
            <a:avLst>
              <a:gd name="adj" fmla="val 3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852159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589025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8"/>
                </a:solidFill>
                <a:latin typeface="Calibri"/>
              </a:defRPr>
            </a:pPr>
            <a:r>
              <a:t>AES-256-GCM · JWT · CORS · Pydantic 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6B8A"/>
                </a:solidFill>
                <a:latin typeface="Calibri"/>
              </a:defRPr>
            </a:pPr>
            <a: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2286000" cy="22860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-457200"/>
            <a:ext cx="1371600" cy="13716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017520"/>
            <a:ext cx="2286000" cy="635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C63FF"/>
                </a:solidFill>
                <a:latin typeface="Calibri"/>
              </a:defRPr>
            </a:pPr>
            <a:r>
              <a:t>Nexus — Open-Source Omnichannel AI Agent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8"/>
                </a:solidFill>
                <a:latin typeface="Calibri"/>
              </a:defRPr>
            </a:pPr>
            <a:r>
              <a:t>MIT License  ·  github.com/ShubhamRSY/voice-agents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8A"/>
                </a:solidFill>
                <a:latin typeface="Calibri"/>
              </a:defRPr>
            </a:pPr>
            <a:r>
              <a:t>Chat  ·  Copilot  ·  Voice  —  One Orchestrator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6B8A"/>
                </a:solidFill>
                <a:latin typeface="Calibri"/>
              </a:defRPr>
            </a:pPr>
            <a: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